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DB717-AC46-485C-8637-C3B07F1BCB2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18591-E20D-4B89-ACE7-5E4E78A3D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10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18591-E20D-4B89-ACE7-5E4E78A3D0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37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E8EDA-3B1D-DDE8-36B1-EF59F6413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F0AAAA-44EE-E2D0-0042-B7AE049AF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D1AFA2-9FAA-74F7-0D96-E617EE23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EC52EA-38EA-F969-6D05-4A1C3A8C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82A856-75BE-D2DF-14CB-BF28753C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0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5B155-F398-F686-ABB8-C989B9B7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9D50F-0022-5A22-3181-8F0E7E16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17BDE-6283-9C28-2A2E-D9A2551D5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531E5-C4B1-D7D6-E404-08C208BC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4E869F-8A74-CBD7-0C5A-8A9BC902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34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A21A9-52E2-64C7-6B27-569C0A20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E1D43E-9FE5-5797-872C-12C9DE4FA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52ED48-842A-6C57-E702-55630B2B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EB61FC-EDD1-2F10-4862-B77211652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6F0027-8C25-1DAA-B8BE-BA11945B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244EF-C9BD-860C-91B1-DA38ED974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07B227-60E9-3FD7-6F00-95C6089CF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FF3E12-6B4A-D956-E431-A6BAA1999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216E9D-B07A-ADC1-F235-F6F035AF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4B30ED-E574-D7C4-367E-3D22FF82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D7D697-464E-B3C2-DDD7-C7C375C7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24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0502F-F7B8-9545-2AB8-42426FF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4F7D6-39E9-B53C-1568-D47058011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35745C-F3AA-200E-45BD-9413F7473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A2506B-CD17-A951-997D-1E3079B8E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A560F0-E817-3617-5D62-1D7AB7E15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15ECD7-1A08-DAC4-F068-019B53C4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809041-F378-C397-6D37-CF2D4C12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6AEF80-AF1B-0340-EF1D-1648D6F9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46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B47E3-DC79-5F22-01F1-83153127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AB9F20-0418-9CFC-226F-6F9EBD8A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1654E0-DAD2-7F67-A1D0-A6D0C912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799876-1CDB-419A-121E-9FF78F7F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30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C260D3-3AF0-0EC5-1A68-16107C23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BD70A8-C78D-1FAA-9125-ADB6EED1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F2D552-A7AE-EBE0-F94A-1EE08026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88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1161F-2D33-D050-506E-8A5F3096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CA452-586B-1D0F-3E5B-A2F8EF166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2AE42A-0E86-F964-CE78-66E777EA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17BFBA-6B44-A858-6AB7-0668E5C8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B525DD-9729-5093-B317-F4A53189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FC66E3-CAF3-26C7-0243-AD469A9F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6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009A5-4F84-51BF-7EFA-A56B4224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58B737-9773-52DD-410B-8CA87A6AA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887713-81FE-0215-8E91-55A343933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64F093-5145-7F83-7BF0-B300A0EB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9652A4-A1E9-FEA3-87F5-F01B1DB1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513BB1-EA01-9FC4-4C71-7E4D57D4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03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759D5-DF29-C5BF-AD82-37D6E05D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D8DE8B-E668-2C4A-2977-7B58CDA35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71751-601B-FD9A-21D5-5B7D2690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597169-F879-AC12-4038-B199F6B6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513317-BB6B-4F20-ACD2-FFB30C7C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5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245634-54C4-D98A-8F10-5F0661F90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EEC932-8C9A-4FC1-9B55-4D77BEA3C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75B97-7101-BA20-528E-E6A1EEE6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064FB-41B3-8DD7-E964-8B1E28B6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04E9E3-3772-1CC6-C11D-590BEDFC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33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2556E7-2574-AFC7-F96E-0396CEB4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DFA57D-0223-E1A3-7B30-80A21FFDA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82DC5-760E-760B-346B-21D316BF7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00C77-E79F-47BC-A646-89E742D0F90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D3E17-E02C-A421-399D-3C59EEBCD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740D8-8A36-4194-F50A-110106644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75287-D045-4219-9737-4AEB0D334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8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一棵树&#10;&#10;AI 生成的内容可能不正确。">
            <a:extLst>
              <a:ext uri="{FF2B5EF4-FFF2-40B4-BE49-F238E27FC236}">
                <a16:creationId xmlns:a16="http://schemas.microsoft.com/office/drawing/2014/main" id="{335930FA-6FD2-8541-9288-548A99F49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9" y="1019866"/>
            <a:ext cx="3874335" cy="384976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311977B-9796-69A7-0902-FB2FE3F91915}"/>
              </a:ext>
            </a:extLst>
          </p:cNvPr>
          <p:cNvSpPr txBox="1"/>
          <p:nvPr/>
        </p:nvSpPr>
        <p:spPr>
          <a:xfrm>
            <a:off x="4127335" y="350563"/>
            <a:ext cx="44839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主视图</a:t>
            </a:r>
            <a:r>
              <a:rPr lang="en-US" altLang="zh-CN" b="1" dirty="0"/>
              <a:t>:</a:t>
            </a:r>
          </a:p>
          <a:p>
            <a:endParaRPr lang="en-US" altLang="zh-CN" b="1" dirty="0"/>
          </a:p>
          <a:p>
            <a:r>
              <a:rPr lang="en-US" altLang="zh-CN" dirty="0"/>
              <a:t>1. </a:t>
            </a:r>
            <a:r>
              <a:rPr lang="zh-CN" altLang="en-US" dirty="0"/>
              <a:t>可视化参数：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节点基础大小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节点引用缩放增量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边捆绑程度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时间过滤器（显示对应时间段的点</a:t>
            </a:r>
            <a:r>
              <a:rPr lang="en-US" altLang="zh-CN" dirty="0"/>
              <a:t>/</a:t>
            </a:r>
            <a:r>
              <a:rPr lang="zh-CN" altLang="en-US" dirty="0"/>
              <a:t>边）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26EDC7-5183-B365-2ABC-C2B12DF1B03B}"/>
              </a:ext>
            </a:extLst>
          </p:cNvPr>
          <p:cNvSpPr txBox="1"/>
          <p:nvPr/>
        </p:nvSpPr>
        <p:spPr>
          <a:xfrm>
            <a:off x="4127335" y="2767953"/>
            <a:ext cx="56407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功能：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模糊搜索（根据论文题目</a:t>
            </a:r>
            <a:r>
              <a:rPr lang="en-US" altLang="zh-CN" dirty="0"/>
              <a:t>/</a:t>
            </a:r>
            <a:r>
              <a:rPr lang="zh-CN" altLang="en-US" dirty="0"/>
              <a:t>摘要）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允许用户手动调节“语义距离”与“引文距离”对布局的影响权重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显示过滤功能：</a:t>
            </a:r>
            <a:r>
              <a:rPr lang="zh-CN" altLang="en-US" dirty="0"/>
              <a:t> </a:t>
            </a:r>
            <a:r>
              <a:rPr lang="de-DE" altLang="zh-CN" dirty="0"/>
              <a:t>research_level</a:t>
            </a:r>
            <a:r>
              <a:rPr lang="zh-CN" altLang="en-US" dirty="0"/>
              <a:t>、</a:t>
            </a:r>
            <a:r>
              <a:rPr lang="de-DE" altLang="zh-CN" dirty="0"/>
              <a:t>author_source</a:t>
            </a:r>
            <a:r>
              <a:rPr lang="zh-CN" altLang="en-US" dirty="0"/>
              <a:t>、</a:t>
            </a:r>
            <a:r>
              <a:rPr lang="de-DE" altLang="zh-CN" dirty="0"/>
              <a:t>is_oa</a:t>
            </a:r>
            <a:r>
              <a:rPr lang="zh-CN" altLang="en-US" dirty="0"/>
              <a:t>、</a:t>
            </a:r>
            <a:r>
              <a:rPr lang="de-DE" altLang="zh-CN" dirty="0"/>
              <a:t>non_energy_data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增加论文地址链接，点击后链接原文。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主路径分析（</a:t>
            </a:r>
            <a:r>
              <a:rPr lang="en-US" altLang="zh-CN" b="1" dirty="0"/>
              <a:t>Main Path Analysis</a:t>
            </a:r>
            <a:r>
              <a:rPr lang="zh-CN" altLang="en-US" b="1" dirty="0"/>
              <a:t>）：</a:t>
            </a:r>
            <a:r>
              <a:rPr lang="zh-CN" altLang="en-US" dirty="0"/>
              <a:t>高亮显示 “主干路径”（即该领域知识流动的核心链路），允许用户选择指标：度，介数中心性，接近中心性，</a:t>
            </a:r>
            <a:r>
              <a:rPr lang="de-DE" altLang="zh-CN" dirty="0"/>
              <a:t>PageRan </a:t>
            </a:r>
            <a:r>
              <a:rPr lang="zh-CN" altLang="en-US" dirty="0"/>
              <a:t>。允许用户开关。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21CFCB-2FAC-2528-9D79-51DF47EA5FB6}"/>
              </a:ext>
            </a:extLst>
          </p:cNvPr>
          <p:cNvSpPr txBox="1"/>
          <p:nvPr/>
        </p:nvSpPr>
        <p:spPr>
          <a:xfrm>
            <a:off x="10527484" y="2598778"/>
            <a:ext cx="822198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度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节点的直接邻居数。意义：衡量节点的局部连接活跃度，高一度节点通常是网络中的“活跃者”或“枢纽”。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dirty="0"/>
              <a:t>介数中心性：</a:t>
            </a:r>
            <a:r>
              <a:rPr lang="zh-CN" altLang="en-US" dirty="0"/>
              <a:t>经过该节点的最短路径比例。意义：衡量节点作为“桥梁”的能力，高介数节点控制信息或资源流动，移除后易导致网络分裂。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dirty="0"/>
              <a:t>接近中心性：</a:t>
            </a:r>
            <a:r>
              <a:rPr lang="zh-CN" altLang="en-US" dirty="0"/>
              <a:t>节点到所有其他节点最短路径之和的倒数。意义：反映节点传播信息的“速度”，值越高，到达全网络越快。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1" dirty="0"/>
              <a:t>PageRank</a:t>
            </a:r>
            <a:r>
              <a:rPr lang="zh-CN" altLang="en-US" b="1" dirty="0"/>
              <a:t>：</a:t>
            </a:r>
            <a:r>
              <a:rPr lang="zh-CN" altLang="en-US" dirty="0"/>
              <a:t>随机游走中访问节点的稳态概率，带阻尼因子。意义：评估节点的全局影响力，尤其适用于有向图（如网页、引用网络）。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EB60CE-9A2B-5930-52B9-48A25E9F7D78}"/>
              </a:ext>
            </a:extLst>
          </p:cNvPr>
          <p:cNvSpPr txBox="1"/>
          <p:nvPr/>
        </p:nvSpPr>
        <p:spPr>
          <a:xfrm>
            <a:off x="84939" y="5222449"/>
            <a:ext cx="4378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布局思路：极坐标（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θ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半径</a:t>
            </a:r>
            <a:r>
              <a:rPr lang="en-US" altLang="zh-CN" dirty="0"/>
              <a:t>——</a:t>
            </a:r>
            <a:r>
              <a:rPr lang="zh-CN" altLang="en-US" dirty="0"/>
              <a:t>时间轴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角度</a:t>
            </a:r>
            <a:r>
              <a:rPr lang="en-US" altLang="zh-CN" dirty="0"/>
              <a:t>——w1*</a:t>
            </a:r>
            <a:r>
              <a:rPr lang="zh-CN" altLang="en-US" dirty="0"/>
              <a:t>引文</a:t>
            </a:r>
            <a:r>
              <a:rPr lang="en-US" altLang="zh-CN" dirty="0"/>
              <a:t>+w2*</a:t>
            </a:r>
            <a:r>
              <a:rPr lang="zh-CN" altLang="en-US" dirty="0"/>
              <a:t>语义（</a:t>
            </a:r>
            <a:r>
              <a:rPr lang="en-US" altLang="zh-CN" dirty="0"/>
              <a:t>UMAP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0311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25EE024-59C1-8374-5F0E-BE424FE59D3B}"/>
              </a:ext>
            </a:extLst>
          </p:cNvPr>
          <p:cNvSpPr txBox="1"/>
          <p:nvPr/>
        </p:nvSpPr>
        <p:spPr>
          <a:xfrm>
            <a:off x="819149" y="258053"/>
            <a:ext cx="85280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ighlight>
                  <a:srgbClr val="00FFFF"/>
                </a:highlight>
              </a:rPr>
              <a:t>3. </a:t>
            </a:r>
            <a:r>
              <a:rPr lang="zh-CN" altLang="en-US" b="1" dirty="0">
                <a:highlight>
                  <a:srgbClr val="00FFFF"/>
                </a:highlight>
              </a:rPr>
              <a:t>增加视图</a:t>
            </a:r>
            <a:endParaRPr lang="en-US" altLang="zh-CN" b="1" dirty="0">
              <a:highlight>
                <a:srgbClr val="00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highlight>
                  <a:srgbClr val="00FFFF"/>
                </a:highlight>
              </a:rPr>
              <a:t>作者协作网络：</a:t>
            </a:r>
            <a:r>
              <a:rPr lang="zh-CN" altLang="en-US" dirty="0">
                <a:highlight>
                  <a:srgbClr val="00FFFF"/>
                </a:highlight>
              </a:rPr>
              <a:t> 增加切换功能，点击切换按钮，将当前的“论文</a:t>
            </a:r>
            <a:r>
              <a:rPr lang="en-US" altLang="zh-CN" dirty="0">
                <a:highlight>
                  <a:srgbClr val="00FFFF"/>
                </a:highlight>
              </a:rPr>
              <a:t>-</a:t>
            </a:r>
            <a:r>
              <a:rPr lang="zh-CN" altLang="en-US" dirty="0">
                <a:highlight>
                  <a:srgbClr val="00FFFF"/>
                </a:highlight>
              </a:rPr>
              <a:t>论文”网络切换为“作者</a:t>
            </a:r>
            <a:r>
              <a:rPr lang="en-US" altLang="zh-CN" dirty="0">
                <a:highlight>
                  <a:srgbClr val="00FFFF"/>
                </a:highlight>
              </a:rPr>
              <a:t>-</a:t>
            </a:r>
            <a:r>
              <a:rPr lang="zh-CN" altLang="en-US" dirty="0">
                <a:highlight>
                  <a:srgbClr val="00FFFF"/>
                </a:highlight>
              </a:rPr>
              <a:t>作者”协作网络，点是作者，边代表两位作者共同合作论文（语义距离用论文关键词衡量）。</a:t>
            </a:r>
            <a:endParaRPr lang="en-US" altLang="zh-CN" dirty="0">
              <a:highlight>
                <a:srgbClr val="00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highlight>
                  <a:srgbClr val="00FFFF"/>
                </a:highlight>
              </a:rPr>
              <a:t>大模型：选择论文提问、两篇论文、两位作者对比（研究方向）。</a:t>
            </a:r>
            <a:endParaRPr lang="en-US" altLang="zh-CN" dirty="0">
              <a:highlight>
                <a:srgbClr val="00FFFF"/>
              </a:highligh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6010B8-9F2B-1C2F-EA8F-F0A99AE11AF0}"/>
              </a:ext>
            </a:extLst>
          </p:cNvPr>
          <p:cNvSpPr txBox="1"/>
          <p:nvPr/>
        </p:nvSpPr>
        <p:spPr>
          <a:xfrm>
            <a:off x="819149" y="1735381"/>
            <a:ext cx="88426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知识演化河</a:t>
            </a:r>
            <a:r>
              <a:rPr lang="en-US" altLang="zh-CN" dirty="0"/>
              <a:t>/</a:t>
            </a:r>
            <a:r>
              <a:rPr lang="zh-CN" altLang="en-US" dirty="0"/>
              <a:t>流视图：</a:t>
            </a:r>
            <a:r>
              <a:rPr lang="zh-CN" altLang="en-US" b="1" dirty="0"/>
              <a:t>横轴</a:t>
            </a:r>
            <a:r>
              <a:rPr lang="zh-CN" altLang="en-US" dirty="0"/>
              <a:t>为时间，</a:t>
            </a:r>
            <a:r>
              <a:rPr lang="zh-CN" altLang="en-US" b="1" dirty="0"/>
              <a:t>纵轴</a:t>
            </a:r>
            <a:r>
              <a:rPr lang="zh-CN" altLang="en-US" dirty="0"/>
              <a:t>为论文数量，每一条“流”代表一个聚类。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关键词演化：</a:t>
            </a:r>
            <a:r>
              <a:rPr lang="zh-CN" altLang="en-US" dirty="0"/>
              <a:t> 根据当前时间过滤器动态生成关键词云。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引文直方图视图：</a:t>
            </a:r>
            <a:r>
              <a:rPr lang="zh-CN" altLang="en-US" dirty="0"/>
              <a:t> 条形图，显示历年的发文量、引用量、被引量、作者数量（去除相同作者）</a:t>
            </a:r>
            <a:r>
              <a:rPr lang="en-US" altLang="zh-CN" dirty="0"/>
              <a:t>——</a:t>
            </a:r>
            <a:r>
              <a:rPr lang="zh-CN" altLang="en-US" dirty="0"/>
              <a:t>时间轴联动。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地理空间分布：</a:t>
            </a:r>
            <a:r>
              <a:rPr lang="zh-CN" altLang="en-US" dirty="0"/>
              <a:t> 小型世界地图，展示当前筛选论文的全球分布情况。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A0BEB7-B948-1BCF-6B75-CADBED56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3352176"/>
            <a:ext cx="4644413" cy="29027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30098D-B3FF-EF24-F844-C14A12606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022" y="3352176"/>
            <a:ext cx="4038746" cy="18520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6E90D7A-4C24-A983-C410-27A735BF2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021" y="5343665"/>
            <a:ext cx="4038747" cy="91126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E14F5A0-0729-1A92-BE2B-3206626FA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49" y="6349377"/>
            <a:ext cx="8842629" cy="173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7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3639115C-3428-2D85-A7C9-763C16CA7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303498"/>
            <a:ext cx="11725275" cy="655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453</Words>
  <Application>Microsoft Office PowerPoint</Application>
  <PresentationFormat>宽屏</PresentationFormat>
  <Paragraphs>28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quote-cjk-patch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d54181</dc:creator>
  <cp:lastModifiedBy>d54181</cp:lastModifiedBy>
  <cp:revision>13</cp:revision>
  <dcterms:created xsi:type="dcterms:W3CDTF">2026-02-10T14:31:06Z</dcterms:created>
  <dcterms:modified xsi:type="dcterms:W3CDTF">2026-03-30T12:55:51Z</dcterms:modified>
</cp:coreProperties>
</file>